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1.xml"/>
  <Override ContentType="application/vnd.openxmlformats-officedocument.theme+xml" PartName="/ppt/theme/theme1.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65" r:id="rId14"/>
    <p:sldId id="266" r:id="rId15"/>
    <p:sldId id="258" r:id="rId7"/>
    <p:sldId id="259" r:id="rId8"/>
    <p:sldId id="260" r:id="rId9"/>
    <p:sldId id="261" r:id="rId10"/>
    <p:sldId id="267" r:id="rId16"/>
    <p:sldId id="262" r:id="rId11"/>
    <p:sldId id="268" r:id="rId17"/>
    <p:sldId id="269" r:id="rId18"/>
    <p:sldId id="263" r:id="rId12"/>
    <p:sldId id="264" r:id="rId13"/>
  </p:sldIdLst>
  <p:sldSz cy="6858000" cx="12192000"/>
  <p:notesSz cx="6858000" cy="12192000"/>
  <p:defaultTextStyle>
    <a:defPPr lvl="0"/>
    <a:lvl1pPr defTabSz="914400" eaLnBrk="1" hangingPunct="1" latinLnBrk="0" lvl="0" marL="0" rtl="0" algn="l">
      <a:defRPr kern="1200" sz="1800">
        <a:solidFill>
          <a:schemeClr val="tx1"/>
        </a:solidFill>
        <a:latin typeface="+mn-lt"/>
        <a:ea typeface="+mn-ea"/>
        <a:cs typeface="+mn-cs"/>
      </a:defRPr>
    </a:lvl1pPr>
    <a:lvl2pPr defTabSz="914400" eaLnBrk="1" hangingPunct="1" latinLnBrk="0" lvl="1" marL="457200" rtl="0" algn="l">
      <a:defRPr kern="1200" sz="1800">
        <a:solidFill>
          <a:schemeClr val="tx1"/>
        </a:solidFill>
        <a:latin typeface="+mn-lt"/>
        <a:ea typeface="+mn-ea"/>
        <a:cs typeface="+mn-cs"/>
      </a:defRPr>
    </a:lvl2pPr>
    <a:lvl3pPr defTabSz="914400" eaLnBrk="1" hangingPunct="1" latinLnBrk="0" lvl="2" marL="914400" rtl="0" algn="l">
      <a:defRPr kern="1200" sz="1800">
        <a:solidFill>
          <a:schemeClr val="tx1"/>
        </a:solidFill>
        <a:latin typeface="+mn-lt"/>
        <a:ea typeface="+mn-ea"/>
        <a:cs typeface="+mn-cs"/>
      </a:defRPr>
    </a:lvl3pPr>
    <a:lvl4pPr defTabSz="914400" eaLnBrk="1" hangingPunct="1" latinLnBrk="0" lvl="3" marL="1371600" rtl="0" algn="l">
      <a:defRPr kern="1200" sz="1800">
        <a:solidFill>
          <a:schemeClr val="tx1"/>
        </a:solidFill>
        <a:latin typeface="+mn-lt"/>
        <a:ea typeface="+mn-ea"/>
        <a:cs typeface="+mn-cs"/>
      </a:defRPr>
    </a:lvl4pPr>
    <a:lvl5pPr defTabSz="914400" eaLnBrk="1" hangingPunct="1" latinLnBrk="0" lvl="4" marL="1828800" rtl="0" algn="l">
      <a:defRPr kern="1200" sz="1800">
        <a:solidFill>
          <a:schemeClr val="tx1"/>
        </a:solidFill>
        <a:latin typeface="+mn-lt"/>
        <a:ea typeface="+mn-ea"/>
        <a:cs typeface="+mn-cs"/>
      </a:defRPr>
    </a:lvl5pPr>
    <a:lvl6pPr defTabSz="914400" eaLnBrk="1" hangingPunct="1" latinLnBrk="0" lvl="5" marL="2286000" rtl="0" algn="l">
      <a:defRPr kern="1200" sz="1800">
        <a:solidFill>
          <a:schemeClr val="tx1"/>
        </a:solidFill>
        <a:latin typeface="+mn-lt"/>
        <a:ea typeface="+mn-ea"/>
        <a:cs typeface="+mn-cs"/>
      </a:defRPr>
    </a:lvl6pPr>
    <a:lvl7pPr defTabSz="914400" eaLnBrk="1" hangingPunct="1" latinLnBrk="0" lvl="6" marL="2743200" rtl="0" algn="l">
      <a:defRPr kern="1200" sz="1800">
        <a:solidFill>
          <a:schemeClr val="tx1"/>
        </a:solidFill>
        <a:latin typeface="+mn-lt"/>
        <a:ea typeface="+mn-ea"/>
        <a:cs typeface="+mn-cs"/>
      </a:defRPr>
    </a:lvl7pPr>
    <a:lvl8pPr defTabSz="914400" eaLnBrk="1" hangingPunct="1" latinLnBrk="0" lvl="7" marL="3200400" rtl="0" algn="l">
      <a:defRPr kern="1200" sz="1800">
        <a:solidFill>
          <a:schemeClr val="tx1"/>
        </a:solidFill>
        <a:latin typeface="+mn-lt"/>
        <a:ea typeface="+mn-ea"/>
        <a:cs typeface="+mn-cs"/>
      </a:defRPr>
    </a:lvl8pPr>
    <a:lvl9pPr defTabSz="914400" eaLnBrk="1" hangingPunct="1" latinLnBrk="0" lvl="8" marL="3657600" rtl="0" algn="l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1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1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2" Type="http://schemas.openxmlformats.org/officeDocument/2006/relationships/slide" Target="slides/slide8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  <Relationship Id="rId13" Type="http://schemas.openxmlformats.org/officeDocument/2006/relationships/slide" Target="slides/slide9.xml"/>
  <Relationship Id="rId14" Type="http://schemas.openxmlformats.org/officeDocument/2006/relationships/slide" Target="slides/slide10.xml"/>
  <Relationship Id="rId15" Type="http://schemas.openxmlformats.org/officeDocument/2006/relationships/slide" Target="slides/slide11.xml"/>
  <Relationship Id="rId16" Type="http://schemas.openxmlformats.org/officeDocument/2006/relationships/slide" Target="slides/slide12.xml"/>
  <Relationship Id="rId17" Type="http://schemas.openxmlformats.org/officeDocument/2006/relationships/slide" Target="slides/slide13.xml"/>
  <Relationship Id="rId18" Type="http://schemas.openxmlformats.org/officeDocument/2006/relationships/slide" Target="slides/slide14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822960"/>
            <a:ext cx="2377440" cy="237744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2103120"/>
            <a:ext cx="1280160" cy="12801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2377440"/>
            <a:ext cx="640080" cy="640080"/>
          </a:xfrm>
          <a:prstGeom prst="ellipse">
            <a:avLst/>
          </a:prstGeom>
          <a:solidFill>
            <a:srgbClr val="21295C">
              <a:alpha val="8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1828800"/>
            <a:ext cx="87782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Role &amp; Importance of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in Forward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 Engineering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572000"/>
            <a:ext cx="18288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47548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9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data analytics forms the technical foundation</a:t>
            </a:r>
            <a:endParaRPr lang="en-US" sz="14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9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client-embedded engineering work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080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Jenet Cecilia 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—  Definition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Forward Deployed Engineer?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 Deployed Engineer (FDE) works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directly with a client organization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develop, customize, and deploy technical solutions inside real operational environments.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61264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a traditional software engineer who builds a product in isolation, an FDE is present through the </a:t>
            </a:r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entire system lifecycle</a:t>
            </a:r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requirements analysis, design, implementation, integration, and deployment.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223760" y="1828800"/>
            <a:ext cx="4297680" cy="3337560"/>
          </a:xfrm>
          <a:prstGeom prst="roundRect">
            <a:avLst>
              <a:gd name="adj" fmla="val 3288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1B1B1F">
                <a:alpha val="2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589520" y="2148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LINE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2560320"/>
            <a:ext cx="36576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desk-bound developer — the technical expert who sits with the client, understands their real problem, and builds around their own data and workflows.</a:t>
            </a:r>
            <a:endParaRPr lang="en-US" sz="1650" dirty="0"/>
          </a:p>
        </p:txBody>
      </p:sp>
      <p:sp>
        <p:nvSpPr>
          <p:cNvPr id="9" name="Text 7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The Starting Point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Data Analytics Is the First Step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 FDE can design a pipeline, build a dashboard, or automate a decision, they must first understand the data itself.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74320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Raw, Messy Data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3072384" y="2743200"/>
            <a:ext cx="484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11880" y="274320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61188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&amp;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Profiling</a:t>
            </a:r>
            <a:endParaRPr lang="en-US" sz="1550" dirty="0"/>
          </a:p>
        </p:txBody>
      </p:sp>
      <p:sp>
        <p:nvSpPr>
          <p:cNvPr id="10" name="Text 8"/>
          <p:cNvSpPr txBox="1"/>
          <p:nvPr/>
        </p:nvSpPr>
        <p:spPr>
          <a:xfrm>
            <a:off x="5861304" y="2743200"/>
            <a:ext cx="484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6400800" y="274320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Trusted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8650224" y="2743200"/>
            <a:ext cx="484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9189720" y="274320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918972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Deployed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55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89204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i="1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is not a side skill for an FDE — it is the mechanism that turns unreliable raw data into decisions people can act on.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The Starting Point (cont.)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Reasons Analytics Comes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828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73736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Mess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112264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FDEs walk into environments with messy, siloed, or undocumented data. Before anything is built, the data must be profiled: what exists, what's missing, what can be trusted.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24612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246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1546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Translating Business Problems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529584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FDEs bridge the gap between a platform and the client's needs, turning a vague business pain point into a concrete, buildable technical spec.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4663440"/>
            <a:ext cx="502920" cy="50292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08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57200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 Validation, Not Big Bets</a:t>
            </a:r>
            <a:endParaRPr lang="en-US" sz="165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946904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lets FDEs prototype small and test assumptions on real data before committing to a full, risky build.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—  The Starting Point (cont.)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Reasons Analytics Comes First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18745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Real Decisions</a:t>
            </a:r>
            <a:endParaRPr lang="en-US" sz="165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2494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dashboards, pipelines, and data models let stakeholders — from executives to defense personnel — make real-time, data-backed decisions.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56616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347472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Bridge, Not Bystander</a:t>
            </a:r>
            <a:endParaRPr lang="en-US" sz="165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849624"/>
            <a:ext cx="9784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with a business unit, the FDE operates like a "startup CTO" — bridging product-building and real problem-solving through rapid, hands-on delivery.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52578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21295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960120" y="525780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 FDE who cannot read, question, and structure data cannot be trusted to build systems around it.”</a:t>
            </a:r>
            <a:endParaRPr lang="en-US" sz="1550" dirty="0"/>
          </a:p>
        </p:txBody>
      </p:sp>
      <p:sp>
        <p:nvSpPr>
          <p:cNvPr id="14" name="Text 1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—  Skill Set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Core Skills That Anchor the Role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01600" dist="25400" dir="5400000">
              <a:srgbClr val="1B1B1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0312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and shaping data directly at the source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25112" y="18745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01600" dist="25400" dir="5400000">
              <a:srgbClr val="1B1B1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53712" y="21031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53712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553712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553712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 with tools like dbt and orchestration (Airflow)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010144" y="187452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01600" dist="25400" dir="5400000">
              <a:srgbClr val="1B1B1F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38744" y="210312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38744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8238744" y="26974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238744" y="30632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 that turns numbers into a clear story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1148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01600" dist="25400" dir="5400000">
              <a:srgbClr val="1B1B1F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434340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937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Statistics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868680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that validates patterns before they're trusted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325112" y="41148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01600" dist="25400" dir="5400000">
              <a:srgbClr val="1B1B1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53712" y="43434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553712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4553712" y="4937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Communication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53712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Translating insight for non-technical stakeholders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010144" y="4114800"/>
            <a:ext cx="34290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CE4E8"/>
            </a:solidFill>
            <a:prstDash val="solid"/>
          </a:ln>
          <a:effectLst>
            <a:outerShdw sx="100000" sy="100000" kx="0" ky="0" algn="bl" rotWithShape="0" blurRad="101600" dist="25400" dir="5400000">
              <a:srgbClr val="1B1B1F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238744" y="4343400"/>
            <a:ext cx="457200" cy="45720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238744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8238744" y="493776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Domain Sense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8238744" y="530352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client's business well enough to build for it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In Practice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777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Real-World Example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828800"/>
            <a:ext cx="64008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government and defense technology, FDEs deploy and customize sophisticated data platforms used by military and government stakeholders.
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building analytical dashboards, configuring pipelines, and structuring data models, they enable leaders to make </a:t>
            </a:r>
            <a:pPr indent="0" marL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real-time, data-backed operational decisions</a:t>
            </a:r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3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showing how analytics work translates directly into mission-critical outcomes, not just internal reporting.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589520" y="1920240"/>
            <a:ext cx="0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18120" y="1828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Full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7818120" y="23774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lifecycle involvement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589520" y="3246120"/>
            <a:ext cx="0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81812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</a:t>
            </a:r>
            <a:endParaRPr lang="en-US" sz="2600" dirty="0"/>
          </a:p>
        </p:txBody>
      </p:sp>
      <p:sp>
        <p:nvSpPr>
          <p:cNvPr id="11" name="Text 9"/>
          <p:cNvSpPr txBox="1"/>
          <p:nvPr/>
        </p:nvSpPr>
        <p:spPr>
          <a:xfrm>
            <a:off x="781812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platforms, not static reports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589520" y="4572000"/>
            <a:ext cx="0" cy="100584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818120" y="4480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7818120" y="5029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enabled at the point of need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097280"/>
            <a:ext cx="4114800" cy="4114800"/>
          </a:xfrm>
          <a:prstGeom prst="ellipse">
            <a:avLst/>
          </a:prstGeom>
          <a:solidFill>
            <a:srgbClr val="065A82">
              <a:alpha val="2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Closing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05156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Data Analyst to FDE:</a:t>
            </a:r>
            <a:endParaRPr lang="en-US" sz="3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Ladder, Not Two Tracks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06040"/>
            <a:ext cx="10241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50" dirty="0">
                <a:solidFill>
                  <a:srgbClr val="C7D6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statistical modelling, dashboarding (Power BI), and Python/R form the direct foundation for FDE work. As organizations adopt AI and data platforms, demand grows for engineers who combine analytical thinking with hands-on client delivery.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10515600" cy="1737360"/>
          </a:xfrm>
          <a:prstGeom prst="roundRect">
            <a:avLst>
              <a:gd name="adj" fmla="val 6316"/>
            </a:avLst>
          </a:prstGeom>
          <a:solidFill>
            <a:srgbClr val="12314A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663440"/>
            <a:ext cx="9875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 is the foundation every later FDE responsibility is built on — pipeline design, deployment, and decision enablement all start with the ability to read and trust the data.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263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E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—  Jenet Cecilia A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2438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822960"/>
            <a:ext cx="2377440" cy="2377440"/>
          </a:xfrm>
          <a:prstGeom prst="ellipse">
            <a:avLst/>
          </a:prstGeom>
          <a:solidFill>
            <a:srgbClr val="1C7293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2103120"/>
            <a:ext cx="1280160" cy="128016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052560" y="2377440"/>
            <a:ext cx="640080" cy="640080"/>
          </a:xfrm>
          <a:prstGeom prst="ellipse">
            <a:avLst/>
          </a:prstGeom>
          <a:solidFill>
            <a:srgbClr val="21295C">
              <a:alpha val="80000"/>
            </a:srgb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—  CLOSING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8" name="Shape 6"/>
          <p:cNvSpPr/>
          <p:nvPr/>
        </p:nvSpPr>
        <p:spPr>
          <a:xfrm>
            <a:off x="4251960" y="3657600"/>
            <a:ext cx="182880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77240" y="3931920"/>
            <a:ext cx="8778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B9C7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are welcome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6080760"/>
            <a:ext cx="8778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E9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Jenet Cecilia A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—  Quick Check</a:t>
            </a:r>
            <a:endParaRPr lang="en-US" sz="125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777240"/>
            <a:ext cx="1090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Would You Do First?</a:t>
            </a:r>
            <a:endParaRPr lang="en-US" sz="3000" dirty="0"/>
          </a:p>
        </p:txBody>
      </p:sp>
      <p:sp>
        <p:nvSpPr>
          <p:cNvPr id="4" name="Shape 4"/>
          <p:cNvSpPr/>
          <p:nvPr/>
        </p:nvSpPr>
        <p:spPr>
          <a:xfrm>
            <a:off x="2320000" y="274320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2320000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100,000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 Records</a:t>
            </a:r>
            <a:endParaRPr lang="en-US" sz="1550" dirty="0"/>
          </a:p>
        </p:txBody>
      </p:sp>
      <p:sp>
        <p:nvSpPr>
          <p:cNvPr id="6" name="Text 6"/>
          <p:cNvSpPr txBox="1"/>
          <p:nvPr/>
        </p:nvSpPr>
        <p:spPr>
          <a:xfrm>
            <a:off x="4514560" y="2743200"/>
            <a:ext cx="484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2200" dirty="0"/>
          </a:p>
        </p:txBody>
      </p:sp>
      <p:sp>
        <p:nvSpPr>
          <p:cNvPr id="7" name="Shape 7"/>
          <p:cNvSpPr/>
          <p:nvPr/>
        </p:nvSpPr>
        <p:spPr>
          <a:xfrm>
            <a:off x="4999192" y="274320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4999192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550" dirty="0"/>
          </a:p>
        </p:txBody>
      </p:sp>
      <p:sp>
        <p:nvSpPr>
          <p:cNvPr id="9" name="Text 9"/>
          <p:cNvSpPr txBox="1"/>
          <p:nvPr/>
        </p:nvSpPr>
        <p:spPr>
          <a:xfrm>
            <a:off x="7193752" y="2743200"/>
            <a:ext cx="484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2200" dirty="0"/>
          </a:p>
        </p:txBody>
      </p:sp>
      <p:sp>
        <p:nvSpPr>
          <p:cNvPr id="10" name="Shape 10"/>
          <p:cNvSpPr/>
          <p:nvPr/>
        </p:nvSpPr>
        <p:spPr>
          <a:xfrm>
            <a:off x="7678384" y="2743200"/>
            <a:ext cx="2194560" cy="15544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</p:spPr>
      </p:sp>
      <p:sp>
        <p:nvSpPr>
          <p:cNvPr id="11" name="Text 11"/>
          <p:cNvSpPr txBox="1"/>
          <p:nvPr/>
        </p:nvSpPr>
        <p:spPr>
          <a:xfrm>
            <a:off x="7678384" y="274320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</a:t>
            </a:r>
            <a:endParaRPr lang="en-US" sz="1550" dirty="0"/>
          </a:p>
        </p:txBody>
      </p:sp>
      <p:sp>
        <p:nvSpPr>
          <p:cNvPr id="12" name="Text 1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kern="0" dirty="0">
                <a:solidFill>
                  <a:srgbClr val="8C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—  Comparison</a:t>
            </a:r>
            <a:endParaRPr lang="en-US" sz="125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777240"/>
            <a:ext cx="1090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 vs Traditional Engineer</a:t>
            </a:r>
            <a:endParaRPr lang="en-US" sz="300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1828800"/>
            <a:ext cx="190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</a:t>
            </a:r>
            <a:endParaRPr lang="en-US" sz="1400" dirty="0"/>
          </a:p>
        </p:txBody>
      </p:sp>
      <p:sp>
        <p:nvSpPr>
          <p:cNvPr id="5" name="Shape 5"/>
          <p:cNvSpPr/>
          <p:nvPr/>
        </p:nvSpPr>
        <p:spPr>
          <a:xfrm>
            <a:off x="2740080" y="1828800"/>
            <a:ext cx="2703946" cy="1080000"/>
          </a:xfrm>
          <a:prstGeom prst="roundRect">
            <a:avLst>
              <a:gd name="adj" fmla="val 8000"/>
            </a:avLst>
          </a:prstGeom>
          <a:solidFill>
            <a:srgbClr val="C7D2D8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2740080" y="1828800"/>
            <a:ext cx="2703946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1500" dirty="0"/>
          </a:p>
        </p:txBody>
      </p:sp>
      <p:sp>
        <p:nvSpPr>
          <p:cNvPr id="7" name="Text 7"/>
          <p:cNvSpPr txBox="1"/>
          <p:nvPr/>
        </p:nvSpPr>
        <p:spPr>
          <a:xfrm>
            <a:off x="5444026" y="1828800"/>
            <a:ext cx="35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5794026" y="1828800"/>
            <a:ext cx="2703946" cy="1080000"/>
          </a:xfrm>
          <a:prstGeom prst="roundRect">
            <a:avLst>
              <a:gd name="adj" fmla="val 8000"/>
            </a:avLst>
          </a:prstGeom>
          <a:solidFill>
            <a:srgbClr val="C7D2D8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5794026" y="1828800"/>
            <a:ext cx="2703946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500" dirty="0"/>
          </a:p>
        </p:txBody>
      </p:sp>
      <p:sp>
        <p:nvSpPr>
          <p:cNvPr id="10" name="Text 10"/>
          <p:cNvSpPr txBox="1"/>
          <p:nvPr/>
        </p:nvSpPr>
        <p:spPr>
          <a:xfrm>
            <a:off x="8497972" y="1828800"/>
            <a:ext cx="35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2000" dirty="0"/>
          </a:p>
        </p:txBody>
      </p:sp>
      <p:sp>
        <p:nvSpPr>
          <p:cNvPr id="11" name="Shape 11"/>
          <p:cNvSpPr/>
          <p:nvPr/>
        </p:nvSpPr>
        <p:spPr>
          <a:xfrm>
            <a:off x="8847972" y="1828800"/>
            <a:ext cx="2703946" cy="1080000"/>
          </a:xfrm>
          <a:prstGeom prst="roundRect">
            <a:avLst>
              <a:gd name="adj" fmla="val 8000"/>
            </a:avLst>
          </a:prstGeom>
          <a:solidFill>
            <a:srgbClr val="C7D2D8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8847972" y="1828800"/>
            <a:ext cx="2703946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</a:t>
            </a:r>
            <a:endParaRPr lang="en-US" sz="1500" dirty="0"/>
          </a:p>
        </p:txBody>
      </p:sp>
      <p:sp>
        <p:nvSpPr>
          <p:cNvPr id="13" name="Text 13"/>
          <p:cNvSpPr txBox="1"/>
          <p:nvPr/>
        </p:nvSpPr>
        <p:spPr>
          <a:xfrm>
            <a:off x="640080" y="3520440"/>
            <a:ext cx="190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FDE</a:t>
            </a:r>
            <a:endParaRPr lang="en-US" sz="1700" dirty="0"/>
          </a:p>
        </p:txBody>
      </p:sp>
      <p:sp>
        <p:nvSpPr>
          <p:cNvPr id="14" name="Shape 14"/>
          <p:cNvSpPr/>
          <p:nvPr/>
        </p:nvSpPr>
        <p:spPr>
          <a:xfrm>
            <a:off x="2740080" y="3520440"/>
            <a:ext cx="1538368" cy="10800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15" name="Text 15"/>
          <p:cNvSpPr txBox="1"/>
          <p:nvPr/>
        </p:nvSpPr>
        <p:spPr>
          <a:xfrm>
            <a:off x="2740080" y="3520440"/>
            <a:ext cx="1538368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</a:t>
            </a:r>
            <a:endParaRPr lang="en-US" sz="1200" dirty="0"/>
          </a:p>
        </p:txBody>
      </p:sp>
      <p:sp>
        <p:nvSpPr>
          <p:cNvPr id="16" name="Text 16"/>
          <p:cNvSpPr txBox="1"/>
          <p:nvPr/>
        </p:nvSpPr>
        <p:spPr>
          <a:xfrm>
            <a:off x="4278448" y="3520440"/>
            <a:ext cx="28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400" dirty="0"/>
          </a:p>
        </p:txBody>
      </p:sp>
      <p:sp>
        <p:nvSpPr>
          <p:cNvPr id="17" name="Shape 17"/>
          <p:cNvSpPr/>
          <p:nvPr/>
        </p:nvSpPr>
        <p:spPr>
          <a:xfrm>
            <a:off x="4558448" y="3520440"/>
            <a:ext cx="1538368" cy="1080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18" name="Text 18"/>
          <p:cNvSpPr txBox="1"/>
          <p:nvPr/>
        </p:nvSpPr>
        <p:spPr>
          <a:xfrm>
            <a:off x="4558448" y="3520440"/>
            <a:ext cx="1538368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200" dirty="0"/>
          </a:p>
        </p:txBody>
      </p:sp>
      <p:sp>
        <p:nvSpPr>
          <p:cNvPr id="19" name="Text 19"/>
          <p:cNvSpPr txBox="1"/>
          <p:nvPr/>
        </p:nvSpPr>
        <p:spPr>
          <a:xfrm>
            <a:off x="6096816" y="3520440"/>
            <a:ext cx="28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400" dirty="0"/>
          </a:p>
        </p:txBody>
      </p:sp>
      <p:sp>
        <p:nvSpPr>
          <p:cNvPr id="20" name="Shape 20"/>
          <p:cNvSpPr/>
          <p:nvPr/>
        </p:nvSpPr>
        <p:spPr>
          <a:xfrm>
            <a:off x="6376816" y="3520440"/>
            <a:ext cx="1538368" cy="1080000"/>
          </a:xfrm>
          <a:prstGeom prst="roundRect">
            <a:avLst>
              <a:gd name="adj" fmla="val 8000"/>
            </a:avLst>
          </a:prstGeom>
          <a:solidFill>
            <a:srgbClr val="21295C"/>
          </a:solidFill>
          <a:ln/>
        </p:spPr>
      </p:sp>
      <p:sp>
        <p:nvSpPr>
          <p:cNvPr id="21" name="Text 21"/>
          <p:cNvSpPr txBox="1"/>
          <p:nvPr/>
        </p:nvSpPr>
        <p:spPr>
          <a:xfrm>
            <a:off x="6376816" y="3520440"/>
            <a:ext cx="1538368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200" dirty="0"/>
          </a:p>
        </p:txBody>
      </p:sp>
      <p:sp>
        <p:nvSpPr>
          <p:cNvPr id="22" name="Text 22"/>
          <p:cNvSpPr txBox="1"/>
          <p:nvPr/>
        </p:nvSpPr>
        <p:spPr>
          <a:xfrm>
            <a:off x="7915184" y="3520440"/>
            <a:ext cx="28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400" dirty="0"/>
          </a:p>
        </p:txBody>
      </p:sp>
      <p:sp>
        <p:nvSpPr>
          <p:cNvPr id="23" name="Shape 23"/>
          <p:cNvSpPr/>
          <p:nvPr/>
        </p:nvSpPr>
        <p:spPr>
          <a:xfrm>
            <a:off x="8195184" y="3520440"/>
            <a:ext cx="1538368" cy="1080000"/>
          </a:xfrm>
          <a:prstGeom prst="roundRect">
            <a:avLst>
              <a:gd name="adj" fmla="val 8000"/>
            </a:avLst>
          </a:prstGeom>
          <a:solidFill>
            <a:srgbClr val="065A82"/>
          </a:solidFill>
          <a:ln/>
        </p:spPr>
      </p:sp>
      <p:sp>
        <p:nvSpPr>
          <p:cNvPr id="24" name="Text 24"/>
          <p:cNvSpPr txBox="1"/>
          <p:nvPr/>
        </p:nvSpPr>
        <p:spPr>
          <a:xfrm>
            <a:off x="8195184" y="3520440"/>
            <a:ext cx="1538368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200" dirty="0"/>
          </a:p>
        </p:txBody>
      </p:sp>
      <p:sp>
        <p:nvSpPr>
          <p:cNvPr id="25" name="Text 25"/>
          <p:cNvSpPr txBox="1"/>
          <p:nvPr/>
        </p:nvSpPr>
        <p:spPr>
          <a:xfrm>
            <a:off x="9733552" y="3520440"/>
            <a:ext cx="280000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400" dirty="0"/>
          </a:p>
        </p:txBody>
      </p:sp>
      <p:sp>
        <p:nvSpPr>
          <p:cNvPr id="26" name="Shape 26"/>
          <p:cNvSpPr/>
          <p:nvPr/>
        </p:nvSpPr>
        <p:spPr>
          <a:xfrm>
            <a:off x="10013552" y="3520440"/>
            <a:ext cx="1538368" cy="1080000"/>
          </a:xfrm>
          <a:prstGeom prst="roundRect">
            <a:avLst>
              <a:gd name="adj" fmla="val 8000"/>
            </a:avLst>
          </a:prstGeom>
          <a:solidFill>
            <a:srgbClr val="1C7293"/>
          </a:solidFill>
          <a:ln/>
        </p:spPr>
      </p:sp>
      <p:sp>
        <p:nvSpPr>
          <p:cNvPr id="27" name="Text 27"/>
          <p:cNvSpPr txBox="1"/>
          <p:nvPr/>
        </p:nvSpPr>
        <p:spPr>
          <a:xfrm>
            <a:off x="10013552" y="3520440"/>
            <a:ext cx="1538368" cy="10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200" dirty="0"/>
          </a:p>
        </p:txBody>
      </p:sp>
      <p:sp>
        <p:nvSpPr>
          <p:cNvPr id="28" name="Text 28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kern="0" dirty="0">
                <a:solidFill>
                  <a:srgbClr val="8C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—  The Loop</a:t>
            </a:r>
            <a:endParaRPr lang="en-US" sz="125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777240"/>
            <a:ext cx="1090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FDE Loop</a:t>
            </a:r>
            <a:endParaRPr lang="en-US" sz="3000" dirty="0"/>
          </a:p>
        </p:txBody>
      </p:sp>
      <p:sp>
        <p:nvSpPr>
          <p:cNvPr id="4" name="Shape 4"/>
          <p:cNvSpPr/>
          <p:nvPr/>
        </p:nvSpPr>
        <p:spPr>
          <a:xfrm>
            <a:off x="822960" y="2743200"/>
            <a:ext cx="1541013" cy="140000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822960" y="2743200"/>
            <a:ext cx="1541013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200" dirty="0"/>
          </a:p>
        </p:txBody>
      </p:sp>
      <p:sp>
        <p:nvSpPr>
          <p:cNvPr id="6" name="Text 6"/>
          <p:cNvSpPr txBox="1"/>
          <p:nvPr/>
        </p:nvSpPr>
        <p:spPr>
          <a:xfrm>
            <a:off x="2363973" y="2743200"/>
            <a:ext cx="26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500" dirty="0"/>
          </a:p>
        </p:txBody>
      </p:sp>
      <p:sp>
        <p:nvSpPr>
          <p:cNvPr id="7" name="Shape 7"/>
          <p:cNvSpPr/>
          <p:nvPr/>
        </p:nvSpPr>
        <p:spPr>
          <a:xfrm>
            <a:off x="2623973" y="2743200"/>
            <a:ext cx="1541013" cy="140000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8" name="Text 8"/>
          <p:cNvSpPr txBox="1"/>
          <p:nvPr/>
        </p:nvSpPr>
        <p:spPr>
          <a:xfrm>
            <a:off x="2623973" y="2743200"/>
            <a:ext cx="1541013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Investigate</a:t>
            </a:r>
            <a:endParaRPr lang="en-US" sz="1200" dirty="0"/>
          </a:p>
        </p:txBody>
      </p:sp>
      <p:sp>
        <p:nvSpPr>
          <p:cNvPr id="9" name="Text 9"/>
          <p:cNvSpPr txBox="1"/>
          <p:nvPr/>
        </p:nvSpPr>
        <p:spPr>
          <a:xfrm>
            <a:off x="4164986" y="2743200"/>
            <a:ext cx="26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500" dirty="0"/>
          </a:p>
        </p:txBody>
      </p:sp>
      <p:sp>
        <p:nvSpPr>
          <p:cNvPr id="10" name="Shape 10"/>
          <p:cNvSpPr/>
          <p:nvPr/>
        </p:nvSpPr>
        <p:spPr>
          <a:xfrm>
            <a:off x="4424986" y="2743200"/>
            <a:ext cx="1541013" cy="140000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</p:spPr>
      </p:sp>
      <p:sp>
        <p:nvSpPr>
          <p:cNvPr id="11" name="Text 11"/>
          <p:cNvSpPr txBox="1"/>
          <p:nvPr/>
        </p:nvSpPr>
        <p:spPr>
          <a:xfrm>
            <a:off x="4424986" y="2743200"/>
            <a:ext cx="1541013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Analyze</a:t>
            </a:r>
            <a:endParaRPr lang="en-US" sz="1200" dirty="0"/>
          </a:p>
        </p:txBody>
      </p:sp>
      <p:sp>
        <p:nvSpPr>
          <p:cNvPr id="12" name="Text 12"/>
          <p:cNvSpPr txBox="1"/>
          <p:nvPr/>
        </p:nvSpPr>
        <p:spPr>
          <a:xfrm>
            <a:off x="5965999" y="2743200"/>
            <a:ext cx="26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500" dirty="0"/>
          </a:p>
        </p:txBody>
      </p:sp>
      <p:sp>
        <p:nvSpPr>
          <p:cNvPr id="13" name="Shape 13"/>
          <p:cNvSpPr/>
          <p:nvPr/>
        </p:nvSpPr>
        <p:spPr>
          <a:xfrm>
            <a:off x="6225999" y="2743200"/>
            <a:ext cx="1541013" cy="140000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14" name="Text 14"/>
          <p:cNvSpPr txBox="1"/>
          <p:nvPr/>
        </p:nvSpPr>
        <p:spPr>
          <a:xfrm>
            <a:off x="6225999" y="2743200"/>
            <a:ext cx="1541013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200" dirty="0"/>
          </a:p>
        </p:txBody>
      </p:sp>
      <p:sp>
        <p:nvSpPr>
          <p:cNvPr id="15" name="Text 15"/>
          <p:cNvSpPr txBox="1"/>
          <p:nvPr/>
        </p:nvSpPr>
        <p:spPr>
          <a:xfrm>
            <a:off x="7767012" y="2743200"/>
            <a:ext cx="26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500" dirty="0"/>
          </a:p>
        </p:txBody>
      </p:sp>
      <p:sp>
        <p:nvSpPr>
          <p:cNvPr id="16" name="Shape 16"/>
          <p:cNvSpPr/>
          <p:nvPr/>
        </p:nvSpPr>
        <p:spPr>
          <a:xfrm>
            <a:off x="8027012" y="2743200"/>
            <a:ext cx="1541013" cy="140000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17" name="Text 17"/>
          <p:cNvSpPr txBox="1"/>
          <p:nvPr/>
        </p:nvSpPr>
        <p:spPr>
          <a:xfrm>
            <a:off x="8027012" y="2743200"/>
            <a:ext cx="1541013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Deploy</a:t>
            </a:r>
            <a:endParaRPr lang="en-US" sz="1200" dirty="0"/>
          </a:p>
        </p:txBody>
      </p:sp>
      <p:sp>
        <p:nvSpPr>
          <p:cNvPr id="18" name="Text 18"/>
          <p:cNvSpPr txBox="1"/>
          <p:nvPr/>
        </p:nvSpPr>
        <p:spPr>
          <a:xfrm>
            <a:off x="9568025" y="2743200"/>
            <a:ext cx="260000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1500" dirty="0"/>
          </a:p>
        </p:txBody>
      </p:sp>
      <p:sp>
        <p:nvSpPr>
          <p:cNvPr id="19" name="Shape 19"/>
          <p:cNvSpPr/>
          <p:nvPr/>
        </p:nvSpPr>
        <p:spPr>
          <a:xfrm>
            <a:off x="9828025" y="2743200"/>
            <a:ext cx="1541013" cy="140000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</p:spPr>
      </p:sp>
      <p:sp>
        <p:nvSpPr>
          <p:cNvPr id="20" name="Text 20"/>
          <p:cNvSpPr txBox="1"/>
          <p:nvPr/>
        </p:nvSpPr>
        <p:spPr>
          <a:xfrm>
            <a:off x="9828025" y="2743200"/>
            <a:ext cx="1541013" cy="14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</a:t>
            </a:r>
            <a:endParaRPr lang="en-US" sz="1200" dirty="0"/>
          </a:p>
        </p:txBody>
      </p:sp>
      <p:sp>
        <p:nvSpPr>
          <p:cNvPr id="21" name="Text 21"/>
          <p:cNvSpPr txBox="1"/>
          <p:nvPr/>
        </p:nvSpPr>
        <p:spPr>
          <a:xfrm>
            <a:off x="822960" y="4892040"/>
            <a:ext cx="10241280" cy="5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50" i="1" kern="0" dirty="0">
                <a:solidFill>
                  <a:srgbClr val="5A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cycle repeats — improvement never stops.</a:t>
            </a:r>
            <a:endParaRPr lang="en-US" sz="1450" dirty="0"/>
          </a:p>
        </p:txBody>
      </p:sp>
      <p:sp>
        <p:nvSpPr>
          <p:cNvPr id="22" name="Text 22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kern="0" dirty="0">
                <a:solidFill>
                  <a:srgbClr val="8C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4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-1097280" y="4114800"/>
            <a:ext cx="3657600" cy="36576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Text 3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6FC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—  In Practice (cont.)</a:t>
            </a:r>
            <a:endParaRPr lang="en-US" sz="1250" dirty="0"/>
          </a:p>
        </p:txBody>
      </p:sp>
      <p:sp>
        <p:nvSpPr>
          <p:cNvPr id="4" name="Text 4"/>
          <p:cNvSpPr txBox="1"/>
          <p:nvPr/>
        </p:nvSpPr>
        <p:spPr>
          <a:xfrm>
            <a:off x="640080" y="777240"/>
            <a:ext cx="1090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Real-World Example</a:t>
            </a:r>
            <a:endParaRPr lang="en-US" sz="3000" dirty="0"/>
          </a:p>
        </p:txBody>
      </p:sp>
      <p:sp>
        <p:nvSpPr>
          <p:cNvPr id="5" name="Shape 5"/>
          <p:cNvSpPr/>
          <p:nvPr/>
        </p:nvSpPr>
        <p:spPr>
          <a:xfrm>
            <a:off x="822960" y="2743200"/>
            <a:ext cx="1829216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6" name="Text 6"/>
          <p:cNvSpPr txBox="1"/>
          <p:nvPr/>
        </p:nvSpPr>
        <p:spPr>
          <a:xfrm>
            <a:off x="822960" y="2743200"/>
            <a:ext cx="1829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</a:t>
            </a:r>
            <a:endParaRPr lang="en-US" sz="1400" dirty="0"/>
          </a:p>
        </p:txBody>
      </p:sp>
      <p:sp>
        <p:nvSpPr>
          <p:cNvPr id="7" name="Text 7"/>
          <p:cNvSpPr txBox="1"/>
          <p:nvPr/>
        </p:nvSpPr>
        <p:spPr>
          <a:xfrm>
            <a:off x="2652176" y="2743200"/>
            <a:ext cx="35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2000" dirty="0"/>
          </a:p>
        </p:txBody>
      </p:sp>
      <p:sp>
        <p:nvSpPr>
          <p:cNvPr id="8" name="Shape 8"/>
          <p:cNvSpPr/>
          <p:nvPr/>
        </p:nvSpPr>
        <p:spPr>
          <a:xfrm>
            <a:off x="3002176" y="2743200"/>
            <a:ext cx="1829216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3002176" y="2743200"/>
            <a:ext cx="1829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Messy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400" dirty="0"/>
          </a:p>
        </p:txBody>
      </p:sp>
      <p:sp>
        <p:nvSpPr>
          <p:cNvPr id="10" name="Text 10"/>
          <p:cNvSpPr txBox="1"/>
          <p:nvPr/>
        </p:nvSpPr>
        <p:spPr>
          <a:xfrm>
            <a:off x="4831392" y="2743200"/>
            <a:ext cx="35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2000" dirty="0"/>
          </a:p>
        </p:txBody>
      </p:sp>
      <p:sp>
        <p:nvSpPr>
          <p:cNvPr id="11" name="Shape 11"/>
          <p:cNvSpPr/>
          <p:nvPr/>
        </p:nvSpPr>
        <p:spPr>
          <a:xfrm>
            <a:off x="5181392" y="2743200"/>
            <a:ext cx="1829216" cy="155448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</p:spPr>
      </p:sp>
      <p:sp>
        <p:nvSpPr>
          <p:cNvPr id="12" name="Text 12"/>
          <p:cNvSpPr txBox="1"/>
          <p:nvPr/>
        </p:nvSpPr>
        <p:spPr>
          <a:xfrm>
            <a:off x="5181392" y="2743200"/>
            <a:ext cx="1829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13" name="Text 13"/>
          <p:cNvSpPr txBox="1"/>
          <p:nvPr/>
        </p:nvSpPr>
        <p:spPr>
          <a:xfrm>
            <a:off x="7010608" y="2743200"/>
            <a:ext cx="35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2000" dirty="0"/>
          </a:p>
        </p:txBody>
      </p:sp>
      <p:sp>
        <p:nvSpPr>
          <p:cNvPr id="14" name="Shape 14"/>
          <p:cNvSpPr/>
          <p:nvPr/>
        </p:nvSpPr>
        <p:spPr>
          <a:xfrm>
            <a:off x="7360608" y="2743200"/>
            <a:ext cx="1829216" cy="155448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15" name="Text 15"/>
          <p:cNvSpPr txBox="1"/>
          <p:nvPr/>
        </p:nvSpPr>
        <p:spPr>
          <a:xfrm>
            <a:off x="7360608" y="2743200"/>
            <a:ext cx="1829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16" name="Text 16"/>
          <p:cNvSpPr txBox="1"/>
          <p:nvPr/>
        </p:nvSpPr>
        <p:spPr>
          <a:xfrm>
            <a:off x="9189824" y="2743200"/>
            <a:ext cx="350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kern="0" dirty="0">
                <a:solidFill>
                  <a:srgbClr val="9FB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➤</a:t>
            </a:r>
            <a:endParaRPr lang="en-US" sz="2000" dirty="0"/>
          </a:p>
        </p:txBody>
      </p:sp>
      <p:sp>
        <p:nvSpPr>
          <p:cNvPr id="17" name="Shape 17"/>
          <p:cNvSpPr/>
          <p:nvPr/>
        </p:nvSpPr>
        <p:spPr>
          <a:xfrm>
            <a:off x="9539824" y="2743200"/>
            <a:ext cx="1829216" cy="155448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18" name="Text 18"/>
          <p:cNvSpPr txBox="1"/>
          <p:nvPr/>
        </p:nvSpPr>
        <p:spPr>
          <a:xfrm>
            <a:off x="9539824" y="2743200"/>
            <a:ext cx="182921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Better</a:t>
            </a:r>
            <a:endParaRPr lang="en-US" sz="14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</a:t>
            </a:r>
            <a:endParaRPr lang="en-US" sz="1400" dirty="0"/>
          </a:p>
        </p:txBody>
      </p:sp>
      <p:sp>
        <p:nvSpPr>
          <p:cNvPr id="19" name="Text 19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kern="0" dirty="0">
                <a:solidFill>
                  <a:srgbClr val="8C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40080" y="457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—  Career Path</a:t>
            </a:r>
            <a:endParaRPr lang="en-US" sz="1250" dirty="0"/>
          </a:p>
        </p:txBody>
      </p:sp>
      <p:sp>
        <p:nvSpPr>
          <p:cNvPr id="3" name="Text 3"/>
          <p:cNvSpPr txBox="1"/>
          <p:nvPr/>
        </p:nvSpPr>
        <p:spPr>
          <a:xfrm>
            <a:off x="640080" y="777240"/>
            <a:ext cx="1090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Career Ladder</a:t>
            </a:r>
            <a:endParaRPr lang="en-US" sz="3000" dirty="0"/>
          </a:p>
        </p:txBody>
      </p:sp>
      <p:sp>
        <p:nvSpPr>
          <p:cNvPr id="4" name="Shape 4"/>
          <p:cNvSpPr/>
          <p:nvPr/>
        </p:nvSpPr>
        <p:spPr>
          <a:xfrm>
            <a:off x="822960" y="5100000"/>
            <a:ext cx="1500000" cy="800000"/>
          </a:xfrm>
          <a:prstGeom prst="roundRect">
            <a:avLst>
              <a:gd name="adj" fmla="val 5882"/>
            </a:avLst>
          </a:prstGeom>
          <a:solidFill>
            <a:srgbClr val="8CA3B0"/>
          </a:solidFill>
          <a:ln/>
        </p:spPr>
      </p:sp>
      <p:sp>
        <p:nvSpPr>
          <p:cNvPr id="5" name="Text 5"/>
          <p:cNvSpPr txBox="1"/>
          <p:nvPr/>
        </p:nvSpPr>
        <p:spPr>
          <a:xfrm>
            <a:off x="822960" y="5100000"/>
            <a:ext cx="15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kern="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300" dirty="0"/>
          </a:p>
        </p:txBody>
      </p:sp>
      <p:sp>
        <p:nvSpPr>
          <p:cNvPr id="6" name="Shape 6"/>
          <p:cNvSpPr/>
          <p:nvPr/>
        </p:nvSpPr>
        <p:spPr>
          <a:xfrm>
            <a:off x="2632176" y="4400000"/>
            <a:ext cx="1500000" cy="800000"/>
          </a:xfrm>
          <a:prstGeom prst="roundRect">
            <a:avLst>
              <a:gd name="adj" fmla="val 5882"/>
            </a:avLst>
          </a:prstGeom>
          <a:solidFill>
            <a:srgbClr val="6FC3E0"/>
          </a:solidFill>
          <a:ln/>
        </p:spPr>
      </p:sp>
      <p:sp>
        <p:nvSpPr>
          <p:cNvPr id="7" name="Text 7"/>
          <p:cNvSpPr txBox="1"/>
          <p:nvPr/>
        </p:nvSpPr>
        <p:spPr>
          <a:xfrm>
            <a:off x="2632176" y="4400000"/>
            <a:ext cx="15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300" dirty="0"/>
          </a:p>
        </p:txBody>
      </p:sp>
      <p:sp>
        <p:nvSpPr>
          <p:cNvPr id="8" name="Shape 8"/>
          <p:cNvSpPr/>
          <p:nvPr/>
        </p:nvSpPr>
        <p:spPr>
          <a:xfrm>
            <a:off x="4441392" y="3700000"/>
            <a:ext cx="1500000" cy="800000"/>
          </a:xfrm>
          <a:prstGeom prst="roundRect">
            <a:avLst>
              <a:gd name="adj" fmla="val 5882"/>
            </a:avLst>
          </a:prstGeom>
          <a:solidFill>
            <a:srgbClr val="1C7293"/>
          </a:solidFill>
          <a:ln/>
        </p:spPr>
      </p:sp>
      <p:sp>
        <p:nvSpPr>
          <p:cNvPr id="9" name="Text 9"/>
          <p:cNvSpPr txBox="1"/>
          <p:nvPr/>
        </p:nvSpPr>
        <p:spPr>
          <a:xfrm>
            <a:off x="4441392" y="3700000"/>
            <a:ext cx="15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0" name="Shape 10"/>
          <p:cNvSpPr/>
          <p:nvPr/>
        </p:nvSpPr>
        <p:spPr>
          <a:xfrm>
            <a:off x="6250608" y="3000000"/>
            <a:ext cx="1500000" cy="800000"/>
          </a:xfrm>
          <a:prstGeom prst="roundRect">
            <a:avLst>
              <a:gd name="adj" fmla="val 5882"/>
            </a:avLst>
          </a:prstGeom>
          <a:solidFill>
            <a:srgbClr val="065A82"/>
          </a:solidFill>
          <a:ln/>
        </p:spPr>
      </p:sp>
      <p:sp>
        <p:nvSpPr>
          <p:cNvPr id="11" name="Text 11"/>
          <p:cNvSpPr txBox="1"/>
          <p:nvPr/>
        </p:nvSpPr>
        <p:spPr>
          <a:xfrm>
            <a:off x="6250608" y="3000000"/>
            <a:ext cx="15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300" dirty="0"/>
          </a:p>
        </p:txBody>
      </p:sp>
      <p:sp>
        <p:nvSpPr>
          <p:cNvPr id="12" name="Shape 12"/>
          <p:cNvSpPr/>
          <p:nvPr/>
        </p:nvSpPr>
        <p:spPr>
          <a:xfrm>
            <a:off x="8059824" y="2300000"/>
            <a:ext cx="1500000" cy="800000"/>
          </a:xfrm>
          <a:prstGeom prst="roundRect">
            <a:avLst>
              <a:gd name="adj" fmla="val 5882"/>
            </a:avLst>
          </a:prstGeom>
          <a:solidFill>
            <a:srgbClr val="21295C"/>
          </a:solidFill>
          <a:ln/>
        </p:spPr>
      </p:sp>
      <p:sp>
        <p:nvSpPr>
          <p:cNvPr id="13" name="Text 13"/>
          <p:cNvSpPr txBox="1"/>
          <p:nvPr/>
        </p:nvSpPr>
        <p:spPr>
          <a:xfrm>
            <a:off x="8059824" y="2300000"/>
            <a:ext cx="15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Engineering</a:t>
            </a:r>
            <a:endParaRPr lang="en-US" sz="1300" dirty="0"/>
          </a:p>
        </p:txBody>
      </p:sp>
      <p:sp>
        <p:nvSpPr>
          <p:cNvPr id="14" name="Shape 14"/>
          <p:cNvSpPr/>
          <p:nvPr/>
        </p:nvSpPr>
        <p:spPr>
          <a:xfrm>
            <a:off x="9869040" y="1600000"/>
            <a:ext cx="1500000" cy="800000"/>
          </a:xfrm>
          <a:prstGeom prst="roundRect">
            <a:avLst>
              <a:gd name="adj" fmla="val 5882"/>
            </a:avLst>
          </a:prstGeom>
          <a:solidFill>
            <a:srgbClr val="0B2438"/>
          </a:solidFill>
          <a:ln/>
        </p:spPr>
      </p:sp>
      <p:sp>
        <p:nvSpPr>
          <p:cNvPr id="15" name="Text 15"/>
          <p:cNvSpPr txBox="1"/>
          <p:nvPr/>
        </p:nvSpPr>
        <p:spPr>
          <a:xfrm>
            <a:off x="9869040" y="1600000"/>
            <a:ext cx="1500000" cy="80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FDE</a:t>
            </a:r>
            <a:endParaRPr lang="en-US" sz="1300" dirty="0"/>
          </a:p>
        </p:txBody>
      </p:sp>
      <p:sp>
        <p:nvSpPr>
          <p:cNvPr id="16" name="Shape 16"/>
          <p:cNvSpPr/>
          <p:nvPr/>
        </p:nvSpPr>
        <p:spPr>
          <a:xfrm flipV="1">
            <a:off x="2322960" y="4800000"/>
            <a:ext cx="309216" cy="70000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 w="med" len="med"/>
          </a:ln>
        </p:spPr>
      </p:sp>
      <p:sp>
        <p:nvSpPr>
          <p:cNvPr id="17" name="Shape 17"/>
          <p:cNvSpPr/>
          <p:nvPr/>
        </p:nvSpPr>
        <p:spPr>
          <a:xfrm flipV="1">
            <a:off x="4132176" y="4100000"/>
            <a:ext cx="309216" cy="70000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 w="med" len="med"/>
          </a:ln>
        </p:spPr>
      </p:sp>
      <p:sp>
        <p:nvSpPr>
          <p:cNvPr id="18" name="Shape 18"/>
          <p:cNvSpPr/>
          <p:nvPr/>
        </p:nvSpPr>
        <p:spPr>
          <a:xfrm flipV="1">
            <a:off x="5941392" y="3400000"/>
            <a:ext cx="309216" cy="70000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 w="med" len="med"/>
          </a:ln>
        </p:spPr>
      </p:sp>
      <p:sp>
        <p:nvSpPr>
          <p:cNvPr id="19" name="Shape 19"/>
          <p:cNvSpPr/>
          <p:nvPr/>
        </p:nvSpPr>
        <p:spPr>
          <a:xfrm flipV="1">
            <a:off x="7750608" y="2700000"/>
            <a:ext cx="309216" cy="70000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 w="med" len="med"/>
          </a:ln>
        </p:spPr>
      </p:sp>
      <p:sp>
        <p:nvSpPr>
          <p:cNvPr id="20" name="Shape 20"/>
          <p:cNvSpPr/>
          <p:nvPr/>
        </p:nvSpPr>
        <p:spPr>
          <a:xfrm flipV="1">
            <a:off x="9559824" y="2000000"/>
            <a:ext cx="309216" cy="700000"/>
          </a:xfrm>
          <a:prstGeom prst="line">
            <a:avLst/>
          </a:prstGeom>
          <a:noFill/>
          <a:ln w="19050">
            <a:solidFill>
              <a:srgbClr val="5A6B75"/>
            </a:solidFill>
            <a:prstDash val="solid"/>
            <a:tailEnd type="triangle" w="med" len="med"/>
          </a:ln>
        </p:spPr>
      </p:sp>
      <p:sp>
        <p:nvSpPr>
          <p:cNvPr id="21" name="Text 21"/>
          <p:cNvSpPr txBox="1"/>
          <p:nvPr/>
        </p:nvSpPr>
        <p:spPr>
          <a:xfrm>
            <a:off x="1152144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kern="0" dirty="0">
                <a:solidFill>
                  <a:srgbClr val="8C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